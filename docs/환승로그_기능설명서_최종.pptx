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5a2cd7f0e64ade" /><Relationship Type="http://schemas.openxmlformats.org/officeDocument/2006/relationships/extended-properties" Target="/docProps/app.xml" Id="Rea0078b891da4df3" /><Relationship Type="http://schemas.openxmlformats.org/officeDocument/2006/relationships/officeDocument" Target="/ppt/presentation.xml" Id="R487e69536ccc48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dcd9579af43dc"/>
  </p:sldMasterIdLst>
  <p:notesMasterIdLst>
    <p:notesMasterId xmlns:r="http://schemas.openxmlformats.org/officeDocument/2006/relationships" r:id="Rc92ac42858fd4c79"/>
  </p:notesMasterIdLst>
  <p:sldIdLst>
    <p:sldId xmlns:r="http://schemas.openxmlformats.org/officeDocument/2006/relationships" id="256" r:id="R2f6cb93ee6804b0e"/>
    <p:sldId xmlns:r="http://schemas.openxmlformats.org/officeDocument/2006/relationships" id="257" r:id="R495831b0f69240c4"/>
    <p:sldId xmlns:r="http://schemas.openxmlformats.org/officeDocument/2006/relationships" id="258" r:id="R175d51f139e8403c"/>
    <p:sldId xmlns:r="http://schemas.openxmlformats.org/officeDocument/2006/relationships" id="259" r:id="R926042cc7b3e4ca4"/>
    <p:sldId xmlns:r="http://schemas.openxmlformats.org/officeDocument/2006/relationships" id="260" r:id="R35b5e7afafb14b22"/>
    <p:sldId xmlns:r="http://schemas.openxmlformats.org/officeDocument/2006/relationships" id="261" r:id="R07b9c8ba5b2348bf"/>
    <p:sldId xmlns:r="http://schemas.openxmlformats.org/officeDocument/2006/relationships" id="262" r:id="R9d39d3ccb06a4cfc"/>
    <p:sldId xmlns:r="http://schemas.openxmlformats.org/officeDocument/2006/relationships" id="263" r:id="R1e67d8dccb004026"/>
    <p:sldId xmlns:r="http://schemas.openxmlformats.org/officeDocument/2006/relationships" id="264" r:id="R6a8fc604a0574f7d"/>
    <p:sldId xmlns:r="http://schemas.openxmlformats.org/officeDocument/2006/relationships" id="265" r:id="R4c36faf9ae0545aa"/>
    <p:sldId xmlns:r="http://schemas.openxmlformats.org/officeDocument/2006/relationships" id="266" r:id="R2bcbe49b018849fe"/>
    <p:sldId xmlns:r="http://schemas.openxmlformats.org/officeDocument/2006/relationships" id="267" r:id="R22ae54100a924c3f"/>
    <p:sldId xmlns:r="http://schemas.openxmlformats.org/officeDocument/2006/relationships" id="268" r:id="R6aaf721bac3a4fc7"/>
    <p:sldId xmlns:r="http://schemas.openxmlformats.org/officeDocument/2006/relationships" id="269" r:id="R9606382bd2d74d1a"/>
    <p:sldId xmlns:r="http://schemas.openxmlformats.org/officeDocument/2006/relationships" id="270" r:id="R7dbaf06dd5c3449a"/>
    <p:sldId xmlns:r="http://schemas.openxmlformats.org/officeDocument/2006/relationships" id="271" r:id="R0e20ff81944441e6"/>
    <p:sldId xmlns:r="http://schemas.openxmlformats.org/officeDocument/2006/relationships" id="272" r:id="Rb789f9b3832c42c3"/>
    <p:sldId xmlns:r="http://schemas.openxmlformats.org/officeDocument/2006/relationships" id="273" r:id="R10c806e3f21c42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a15ec5749496a" /><Relationship Type="http://schemas.openxmlformats.org/officeDocument/2006/relationships/slideMaster" Target="/ppt/slideMasters/slideMaster1.xml" Id="R2b0dcd9579af43dc" /><Relationship Type="http://schemas.openxmlformats.org/officeDocument/2006/relationships/notesMaster" Target="/ppt/notesMasters/notesMaster1.xml" Id="Rc92ac42858fd4c79" /><Relationship Type="http://schemas.openxmlformats.org/officeDocument/2006/relationships/presProps" Target="/ppt/presProps.xml" Id="Rf884ee7eb97348f1" /><Relationship Type="http://schemas.openxmlformats.org/officeDocument/2006/relationships/viewProps" Target="/ppt/viewProps.xml" Id="R6d85f807318d4c84" /><Relationship Type="http://schemas.openxmlformats.org/officeDocument/2006/relationships/tableStyles" Target="/ppt/tableStyles.xml" Id="R893bdae06ffd4076" /><Relationship Type="http://schemas.openxmlformats.org/officeDocument/2006/relationships/slide" Target="/ppt/slides/slide1.xml" Id="R2f6cb93ee6804b0e" /><Relationship Type="http://schemas.openxmlformats.org/officeDocument/2006/relationships/slide" Target="/ppt/slides/slide2.xml" Id="R495831b0f69240c4" /><Relationship Type="http://schemas.openxmlformats.org/officeDocument/2006/relationships/slide" Target="/ppt/slides/slide3.xml" Id="R175d51f139e8403c" /><Relationship Type="http://schemas.openxmlformats.org/officeDocument/2006/relationships/slide" Target="/ppt/slides/slide4.xml" Id="R926042cc7b3e4ca4" /><Relationship Type="http://schemas.openxmlformats.org/officeDocument/2006/relationships/slide" Target="/ppt/slides/slide5.xml" Id="R35b5e7afafb14b22" /><Relationship Type="http://schemas.openxmlformats.org/officeDocument/2006/relationships/slide" Target="/ppt/slides/slide6.xml" Id="R07b9c8ba5b2348bf" /><Relationship Type="http://schemas.openxmlformats.org/officeDocument/2006/relationships/slide" Target="/ppt/slides/slide7.xml" Id="R9d39d3ccb06a4cfc" /><Relationship Type="http://schemas.openxmlformats.org/officeDocument/2006/relationships/slide" Target="/ppt/slides/slide8.xml" Id="R1e67d8dccb004026" /><Relationship Type="http://schemas.openxmlformats.org/officeDocument/2006/relationships/slide" Target="/ppt/slides/slide9.xml" Id="R6a8fc604a0574f7d" /><Relationship Type="http://schemas.openxmlformats.org/officeDocument/2006/relationships/slide" Target="/ppt/slides/slide10.xml" Id="R4c36faf9ae0545aa" /><Relationship Type="http://schemas.openxmlformats.org/officeDocument/2006/relationships/slide" Target="/ppt/slides/slide11.xml" Id="R2bcbe49b018849fe" /><Relationship Type="http://schemas.openxmlformats.org/officeDocument/2006/relationships/slide" Target="/ppt/slides/slide12.xml" Id="R22ae54100a924c3f" /><Relationship Type="http://schemas.openxmlformats.org/officeDocument/2006/relationships/slide" Target="/ppt/slides/slide13.xml" Id="R6aaf721bac3a4fc7" /><Relationship Type="http://schemas.openxmlformats.org/officeDocument/2006/relationships/slide" Target="/ppt/slides/slide14.xml" Id="R9606382bd2d74d1a" /><Relationship Type="http://schemas.openxmlformats.org/officeDocument/2006/relationships/slide" Target="/ppt/slides/slide15.xml" Id="R7dbaf06dd5c3449a" /><Relationship Type="http://schemas.openxmlformats.org/officeDocument/2006/relationships/slide" Target="/ppt/slides/slide16.xml" Id="R0e20ff81944441e6" /><Relationship Type="http://schemas.openxmlformats.org/officeDocument/2006/relationships/slide" Target="/ppt/slides/slide17.xml" Id="Rb789f9b3832c42c3" /><Relationship Type="http://schemas.openxmlformats.org/officeDocument/2006/relationships/slide" Target="/ppt/slides/slide18.xml" Id="R10c806e3f21c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9eeaf9928d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29f7c9b64445c" /><Relationship Type="http://schemas.openxmlformats.org/officeDocument/2006/relationships/notesMaster" Target="/ppt/notesMasters/notesMaster1.xml" Id="Re4bd454b34e242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cc237da0b245bb" /><Relationship Type="http://schemas.openxmlformats.org/officeDocument/2006/relationships/notesMaster" Target="/ppt/notesMasters/notesMaster1.xml" Id="R6ab84a0418bf45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3bd8bbbfee43b2" /><Relationship Type="http://schemas.openxmlformats.org/officeDocument/2006/relationships/notesMaster" Target="/ppt/notesMasters/notesMaster1.xml" Id="Rb8517b9448a7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b42438d344f1f" /><Relationship Type="http://schemas.openxmlformats.org/officeDocument/2006/relationships/notesMaster" Target="/ppt/notesMasters/notesMaster1.xml" Id="Rd2310085582a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d6bc5d30a4647" /><Relationship Type="http://schemas.openxmlformats.org/officeDocument/2006/relationships/notesMaster" Target="/ppt/notesMasters/notesMaster1.xml" Id="R7f2fb0efa577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54b0a250234610" /><Relationship Type="http://schemas.openxmlformats.org/officeDocument/2006/relationships/notesMaster" Target="/ppt/notesMasters/notesMaster1.xml" Id="Rc7a7b3034dbe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34bb196744b26" /><Relationship Type="http://schemas.openxmlformats.org/officeDocument/2006/relationships/notesMaster" Target="/ppt/notesMasters/notesMaster1.xml" Id="Red3acc601c3040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b7d6aec4904afe" /><Relationship Type="http://schemas.openxmlformats.org/officeDocument/2006/relationships/notesMaster" Target="/ppt/notesMasters/notesMaster1.xml" Id="Rf7503ce3c8bd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622c5127949d9" /><Relationship Type="http://schemas.openxmlformats.org/officeDocument/2006/relationships/notesMaster" Target="/ppt/notesMasters/notesMaster1.xml" Id="Rea733a5bb84840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df938715ca4497" /><Relationship Type="http://schemas.openxmlformats.org/officeDocument/2006/relationships/notesMaster" Target="/ppt/notesMasters/notesMaster1.xml" Id="Rdd6ce9e684b6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a0e451381e4735" /><Relationship Type="http://schemas.openxmlformats.org/officeDocument/2006/relationships/notesMaster" Target="/ppt/notesMasters/notesMaster1.xml" Id="R0ca795a42e4a47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97a96399784f7b" /><Relationship Type="http://schemas.openxmlformats.org/officeDocument/2006/relationships/notesMaster" Target="/ppt/notesMasters/notesMaster1.xml" Id="R6aef7b7d26d840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746dcfa1694108" /><Relationship Type="http://schemas.openxmlformats.org/officeDocument/2006/relationships/notesMaster" Target="/ppt/notesMasters/notesMaster1.xml" Id="R4626fa9ecdb245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a73d08da7c42b9" /><Relationship Type="http://schemas.openxmlformats.org/officeDocument/2006/relationships/notesMaster" Target="/ppt/notesMasters/notesMaster1.xml" Id="R9dd9351e11af4a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a6a61706ea468a" /><Relationship Type="http://schemas.openxmlformats.org/officeDocument/2006/relationships/notesMaster" Target="/ppt/notesMasters/notesMaster1.xml" Id="Rd92e8aab57b847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e7e8ea69a04d7f" /><Relationship Type="http://schemas.openxmlformats.org/officeDocument/2006/relationships/notesMaster" Target="/ppt/notesMasters/notesMaster1.xml" Id="R7f9632f4bfa746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1f06bcdd3b4b39" /><Relationship Type="http://schemas.openxmlformats.org/officeDocument/2006/relationships/notesMaster" Target="/ppt/notesMasters/notesMaster1.xml" Id="R9ae720911a9547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424cdea19547ab" /><Relationship Type="http://schemas.openxmlformats.org/officeDocument/2006/relationships/notesMaster" Target="/ppt/notesMasters/notesMaster1.xml" Id="Rab2410575072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팀명: 환승로그. 서비스명: 환승로그. 공식 양식: https://drive.google.com/file/d/10fxZ7pK_l1n3TMkWnYQQss8jkM85-hJV/view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지정과제: 1번, 여행 중 실시간 변수 대응의 어려움. 서비스 URL: https://hwanseung-log.jum4769.workers.dev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공개 서비스 https://hwanseung-log.jum4769.workers.dev 및 v1.2.2 public/engine.js, pages.js, dialogs.js, app.js, visit.js, refresh-engine.js, api/handlers.mjs. 외부 API 조회와 계획 추정값을 구분. 기재한 F 번호는 기능설명서 식별번호.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공개 서비스 https://hwanseung-log.jum4769.workers.dev 및 v1.2.2 public/engine.js, pages.js, dialogs.js, app.js, visit.js, refresh-engine.js, api/handlers.mjs. 외부 API 조회와 계획 추정값을 구분. 기재한 F 번호는 기능설명서 식별번호.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공개 서비스 https://hwanseung-log.jum4769.workers.dev 및 v1.2.2 public/engine.js, pages.js, dialogs.js, app.js, visit.js, refresh-engine.js, api/handlers.mjs. 외부 API 조회와 계획 추정값을 구분. 기재한 F 번호는 기능설명서 식별번호.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공개 서비스 https://hwanseung-log.jum4769.workers.dev 및 v1.2.2 public/engine.js, pages.js, dialogs.js, app.js, visit.js, refresh-engine.js, api/handlers.mjs. 외부 API 조회와 계획 추정값을 구분. 기재한 F 번호는 기능설명서 식별번호.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공개 서비스 https://hwanseung-log.jum4769.workers.dev 및 v1.2.2 public/engine.js, pages.js, dialogs.js, app.js, visit.js, refresh-engine.js, api/handlers.mjs. 외부 API 조회와 계획 추정값을 구분. 기재한 F 번호는 기능설명서 식별번호.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v1.2.2 화면을 캡처. 일정·날씨·비용은 명시된 데모 가정이며 실제 여행 결과가 아님. 관광정보 화면은 한국관광공사 실제 응답, 교통 화면은 ODsay 실제 응답(2026-09-21). 화면 일부를 읽기 좋게 발췌했다. https://hwanseung-log.jum4769.workers.dev/#demo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v1.2.2 화면을 캡처. 일정·날씨·비용은 명시된 데모 가정이며 실제 여행 결과가 아님. 관광정보 화면은 한국관광공사 실제 응답, 교통 화면은 ODsay 실제 응답(2026-09-21). 화면 일부를 읽기 좋게 발췌했다. https://hwanseung-log.jum4769.workers.dev/#demo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v1.2.2 화면을 캡처. 일정·날씨·비용은 명시된 데모 가정이며 실제 여행 결과가 아님. 관광정보 화면은 한국관광공사 실제 응답, 교통 화면은 ODsay 실제 응답(2026-09-21). 화면 일부를 읽기 좋게 발췌했다. https://hwanseung-log.jum4769.workers.dev/#demo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v1.2.2 화면을 캡처. 일정·날씨·비용은 명시된 데모 가정이며 실제 여행 결과가 아님. 관광정보 화면은 한국관광공사 실제 응답, 교통 화면은 ODsay 실제 응답(2026-09-21). 화면 일부를 읽기 좋게 발췌했다. https://hwanseung-log.jum4769.workers.dev/#demo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v1.2.2 화면을 캡처. 일정·날씨·비용은 명시된 데모 가정이며 실제 여행 결과가 아님. 관광정보 화면은 한국관광공사 실제 응답, 교통 화면은 ODsay 실제 응답(2026-09-21). 화면 일부를 읽기 좋게 발췌했다. https://hwanseung-log.jum4769.workers.dev/#demo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화면 1개, 상세 화면 4개. 제품 화면에서 사용하는 사진과 지도는 제품에 표시된 출처·조건을 따른다. 관광정보 출처: ⓒ한국관광공사. https://hwanseung-log.jum4769.workers.dev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연동: KorService2 searchKeyword2, detailCommon2, detailIntro2. public/visit.js 및 api/handlers.mjs. 공모전 안내: https://lowly-polyanthus-1fb.notion.site/2026-3a75dce406e38034a9a8d058a1b55596 인증키는 본 문서에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구현의 데이터 제공기관 목록. ODsay Web 등록 도메인: hwanseung-log.jum4769.workers.dev. API 키는 문서에 기재하지 않음. 초기 코스 8개 장소의 계획값은 public/data.js. 날씨 API는 Open-Meteo. 지도는 OpenStreetMap iframe.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구현의 데이터 제공기관 목록. ODsay Web 등록 도메인: hwanseung-log.jum4769.workers.dev. API 키는 문서에 기재하지 않음. 초기 코스 8개 장소의 계획값은 public/data.js. 날씨 API는 Open-Meteo. 지도는 OpenStreetMap iframe.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발전계획은 향후 목표이며 검증 성과·사업 제휴·이용자 수치를 임의로 제시하지 않았다. 현재 한계: 관광지 8곳, 인천공항 코스, 현재 브라우저 보관, 페이지가 열려 있을 때 복귀 알림.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c2c0c7369483d" /><Relationship Type="http://schemas.openxmlformats.org/officeDocument/2006/relationships/image" Target="/ppt/media/image.png" Id="Re5e107f0893743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a58f1be404081" /><Relationship Type="http://schemas.openxmlformats.org/officeDocument/2006/relationships/image" Target="/ppt/media/image2.png" Id="R9b5ebd02a57c42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87af339b94f53" /><Relationship Type="http://schemas.openxmlformats.org/officeDocument/2006/relationships/image" Target="/ppt/media/image3.png" Id="R82773d58e6434a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7a192eec44430" /><Relationship Type="http://schemas.openxmlformats.org/officeDocument/2006/relationships/image" Target="/ppt/media/image4.png" Id="Rca30bd54622c4d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cf8f7dc1440e3" /><Relationship Type="http://schemas.openxmlformats.org/officeDocument/2006/relationships/image" Target="/ppt/media/image5.png" Id="Re8e85bb28af244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a02d76d504cd5" /><Relationship Type="http://schemas.openxmlformats.org/officeDocument/2006/relationships/image" Target="/ppt/media/image6.png" Id="Rb58234b6932844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0922d666c400f" /><Relationship Type="http://schemas.openxmlformats.org/officeDocument/2006/relationships/image" Target="/ppt/media/image7.png" Id="Rf831a9a2cd0b44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44e44f39f4a29" /><Relationship Type="http://schemas.openxmlformats.org/officeDocument/2006/relationships/image" Target="/ppt/media/image8.png" Id="R56e5c82e18e0480c" /></Relationships>
</file>

<file path=ppt/slideLayouts/slideLayout1.xml><?xml version="1.0" encoding="utf-8"?>
<p:sldLayout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107f08937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ebd02a57c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해시태그 연계 핵심 기능별 흐름도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73d58e6434a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blank" preserve="1">
  <p:cSld name="서비스 관련 이미지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0bd54622c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46070" cy="684943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85bb28af2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07965" cy="68303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234b6932844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27017" cy="682085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1a9a2cd0b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36544" cy="683990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6505B8FA-797F-4E6A-86DF-438EE85E62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38FB6A-844E-4645-B6B8-D2945F9927BB}" type="datetimeFigureOut">
              <a:t>2026-08-11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D2205A5D-F6F8-41E6-B284-E8513AD298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58133D3C-425F-4B97-8925-F64ACE158C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  <p:pic>
        <p:nvPicPr>
          <p:cNvPr id="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5c82e18e048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4833ba3bf84b3f" /><Relationship Type="http://schemas.openxmlformats.org/officeDocument/2006/relationships/slideLayout" Target="/ppt/slideLayouts/slideLayout1.xml" Id="R815c178e75fb48c0" /><Relationship Type="http://schemas.openxmlformats.org/officeDocument/2006/relationships/slideLayout" Target="/ppt/slideLayouts/slideLayout2.xml" Id="Red7d5389bbfb455f" /><Relationship Type="http://schemas.openxmlformats.org/officeDocument/2006/relationships/slideLayout" Target="/ppt/slideLayouts/slideLayout3.xml" Id="Rcec41997e0f84df0" /><Relationship Type="http://schemas.openxmlformats.org/officeDocument/2006/relationships/slideLayout" Target="/ppt/slideLayouts/slideLayout4.xml" Id="R77370fa585da4720" /><Relationship Type="http://schemas.openxmlformats.org/officeDocument/2006/relationships/slideLayout" Target="/ppt/slideLayouts/slideLayout5.xml" Id="R8189e476182a4d4c" /><Relationship Type="http://schemas.openxmlformats.org/officeDocument/2006/relationships/slideLayout" Target="/ppt/slideLayouts/slideLayout6.xml" Id="R5af64f4ddefe46b5" /><Relationship Type="http://schemas.openxmlformats.org/officeDocument/2006/relationships/slideLayout" Target="/ppt/slideLayouts/slideLayout7.xml" Id="R7f74425b799e4166" /><Relationship Type="http://schemas.openxmlformats.org/officeDocument/2006/relationships/slideLayout" Target="/ppt/slideLayouts/slideLayout8.xml" Id="Rda1b732e974c4a9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2F168C10-8BA4-4610-A742-793F77746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A6C1681-551D-49A7-9CD6-187674ED0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CDF3851-3F30-4CC4-AEBC-2A1EA7C1812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38FB6A-844E-4645-B6B8-D2945F9927BB}" type="datetimeFigureOut">
              <a:t>2026-08-11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3B33CAE-B065-4F9C-BECB-4DC4D5AE38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03AAD31-BE46-4F0B-8DA4-9328C3B8F5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5c178e75fb48c0"/>
    <p:sldLayoutId xmlns:r="http://schemas.openxmlformats.org/officeDocument/2006/relationships" id="2147483650" r:id="Red7d5389bbfb455f"/>
    <p:sldLayoutId xmlns:r="http://schemas.openxmlformats.org/officeDocument/2006/relationships" id="2147483651" r:id="Rcec41997e0f84df0"/>
    <p:sldLayoutId xmlns:r="http://schemas.openxmlformats.org/officeDocument/2006/relationships" id="2147483652" r:id="R77370fa585da4720"/>
    <p:sldLayoutId xmlns:r="http://schemas.openxmlformats.org/officeDocument/2006/relationships" id="2147483653" r:id="R8189e476182a4d4c"/>
    <p:sldLayoutId xmlns:r="http://schemas.openxmlformats.org/officeDocument/2006/relationships" id="2147483654" r:id="R5af64f4ddefe46b5"/>
    <p:sldLayoutId xmlns:r="http://schemas.openxmlformats.org/officeDocument/2006/relationships" id="2147483655" r:id="R7f74425b799e4166"/>
    <p:sldLayoutId xmlns:r="http://schemas.openxmlformats.org/officeDocument/2006/relationships" id="2147483656" r:id="Rda1b732e974c4a9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96c1dbbff4c75" /><Relationship Type="http://schemas.openxmlformats.org/officeDocument/2006/relationships/image" Target="/ppt/media/image9.png" Id="R5482f615caac48ec" /><Relationship Type="http://schemas.openxmlformats.org/officeDocument/2006/relationships/notesSlide" Target="/ppt/notesSlides/notesSlide1.xml" Id="R53292923d8e9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1d47853f6417a" /><Relationship Type="http://schemas.openxmlformats.org/officeDocument/2006/relationships/image" Target="/ppt/media/image10.png" Id="Radced82f35d84f93" /><Relationship Type="http://schemas.openxmlformats.org/officeDocument/2006/relationships/notesSlide" Target="/ppt/notesSlides/notesSlide2.xml" Id="R318929363c9048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5dbb1b9454312" /><Relationship Type="http://schemas.openxmlformats.org/officeDocument/2006/relationships/image" Target="/ppt/media/image11.png" Id="Rea7e74dd366f4312" /><Relationship Type="http://schemas.openxmlformats.org/officeDocument/2006/relationships/notesSlide" Target="/ppt/notesSlides/notesSlide3.xml" Id="R8f7a17b43098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150433c6e4046" /><Relationship Type="http://schemas.openxmlformats.org/officeDocument/2006/relationships/image" Target="/ppt/media/image12.png" Id="R8c0e913ef0df4372" /><Relationship Type="http://schemas.openxmlformats.org/officeDocument/2006/relationships/notesSlide" Target="/ppt/notesSlides/notesSlide4.xml" Id="R8d57d0e8983945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55b2e1a7d4f31" /><Relationship Type="http://schemas.openxmlformats.org/officeDocument/2006/relationships/image" Target="/ppt/media/image13.png" Id="Ra828e7a39e7246fd" /><Relationship Type="http://schemas.openxmlformats.org/officeDocument/2006/relationships/notesSlide" Target="/ppt/notesSlides/notesSlide5.xml" Id="Re64bf93788b2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1d511a89443c7" /><Relationship Type="http://schemas.openxmlformats.org/officeDocument/2006/relationships/image" Target="/ppt/media/image14.png" Id="Rd4e63172f0d54e1e" /><Relationship Type="http://schemas.openxmlformats.org/officeDocument/2006/relationships/notesSlide" Target="/ppt/notesSlides/notesSlide6.xml" Id="R17c417b4eb3c4e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0809239d248a6" /><Relationship Type="http://schemas.openxmlformats.org/officeDocument/2006/relationships/image" Target="/ppt/media/image15.png" Id="Rebf258c911e64fc0" /><Relationship Type="http://schemas.openxmlformats.org/officeDocument/2006/relationships/notesSlide" Target="/ppt/notesSlides/notesSlide7.xml" Id="R205f29cffa634f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c2df1e87f49bd" /><Relationship Type="http://schemas.openxmlformats.org/officeDocument/2006/relationships/image" Target="/ppt/media/image16.png" Id="Rcfd2fbe1f0244a90" /><Relationship Type="http://schemas.openxmlformats.org/officeDocument/2006/relationships/notesSlide" Target="/ppt/notesSlides/notesSlide8.xml" Id="R373e91456641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cb3a6f7fca4e93" /><Relationship Type="http://schemas.openxmlformats.org/officeDocument/2006/relationships/image" Target="/ppt/media/image17.png" Id="R3bbe40a04a414a91" /><Relationship Type="http://schemas.openxmlformats.org/officeDocument/2006/relationships/image" Target="/ppt/media/image18.png" Id="Rbbcd287d47104e1f" /><Relationship Type="http://schemas.openxmlformats.org/officeDocument/2006/relationships/image" Target="/ppt/media/image19.png" Id="R732933173ed04d86" /><Relationship Type="http://schemas.openxmlformats.org/officeDocument/2006/relationships/image" Target="/ppt/media/image20.png" Id="Re89f579c33404cb3" /><Relationship Type="http://schemas.openxmlformats.org/officeDocument/2006/relationships/image" Target="/ppt/media/image21.png" Id="R4096fb02a6c34486" /><Relationship Type="http://schemas.openxmlformats.org/officeDocument/2006/relationships/notesSlide" Target="/ppt/notesSlides/notesSlide9.xml" Id="Rac3faf54144041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09f9f2491d467d" /><Relationship Type="http://schemas.openxmlformats.org/officeDocument/2006/relationships/image" Target="/ppt/media/image22.png" Id="Rfbe14cb8b2dc438d" /><Relationship Type="http://schemas.openxmlformats.org/officeDocument/2006/relationships/image" Target="/ppt/media/image23.png" Id="R2365031948cd4d2a" /><Relationship Type="http://schemas.openxmlformats.org/officeDocument/2006/relationships/image" Target="/ppt/media/image24.png" Id="R373fe1b9eb1242c4" /><Relationship Type="http://schemas.openxmlformats.org/officeDocument/2006/relationships/image" Target="/ppt/media/image25.png" Id="R961c2713d5954cfe" /><Relationship Type="http://schemas.openxmlformats.org/officeDocument/2006/relationships/image" Target="/ppt/media/image26.png" Id="Rcabedb53f1aa4d09" /><Relationship Type="http://schemas.openxmlformats.org/officeDocument/2006/relationships/notesSlide" Target="/ppt/notesSlides/notesSlide10.xml" Id="R6d4cb6ed50ba48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6d559fc0d246ec" /><Relationship Type="http://schemas.openxmlformats.org/officeDocument/2006/relationships/image" Target="/ppt/media/image27.png" Id="R1456c5b237e34bec" /><Relationship Type="http://schemas.openxmlformats.org/officeDocument/2006/relationships/image" Target="/ppt/media/image28.png" Id="Re79d6ec67bb94294" /><Relationship Type="http://schemas.openxmlformats.org/officeDocument/2006/relationships/image" Target="/ppt/media/image29.png" Id="Reb64cc9e826e4332" /><Relationship Type="http://schemas.openxmlformats.org/officeDocument/2006/relationships/image" Target="/ppt/media/image30.png" Id="Rbf1499331a2a4e22" /><Relationship Type="http://schemas.openxmlformats.org/officeDocument/2006/relationships/image" Target="/ppt/media/image31.png" Id="R4af30628e9c941a4" /><Relationship Type="http://schemas.openxmlformats.org/officeDocument/2006/relationships/notesSlide" Target="/ppt/notesSlides/notesSlide11.xml" Id="R66c0a38b9bf947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3aeb4b00694308" /><Relationship Type="http://schemas.openxmlformats.org/officeDocument/2006/relationships/image" Target="/ppt/media/image32.png" Id="R5ef299d2a4dc4dea" /><Relationship Type="http://schemas.openxmlformats.org/officeDocument/2006/relationships/image" Target="/ppt/media/image33.png" Id="Rec00c7a4086e4715" /><Relationship Type="http://schemas.openxmlformats.org/officeDocument/2006/relationships/image" Target="/ppt/media/image34.png" Id="R8b0d98bc8a7d4e25" /><Relationship Type="http://schemas.openxmlformats.org/officeDocument/2006/relationships/image" Target="/ppt/media/image35.png" Id="Ra0553f952e4c4625" /><Relationship Type="http://schemas.openxmlformats.org/officeDocument/2006/relationships/image" Target="/ppt/media/image36.png" Id="Rb93d6245e8384acc" /><Relationship Type="http://schemas.openxmlformats.org/officeDocument/2006/relationships/notesSlide" Target="/ppt/notesSlides/notesSlide12.xml" Id="R6a57e36d675842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2cd6da3f594a9c" /><Relationship Type="http://schemas.openxmlformats.org/officeDocument/2006/relationships/image" Target="/ppt/media/image37.png" Id="R7559ffde3fcd418d" /><Relationship Type="http://schemas.openxmlformats.org/officeDocument/2006/relationships/image" Target="/ppt/media/image38.png" Id="R0e9b8e87ca9d47ea" /><Relationship Type="http://schemas.openxmlformats.org/officeDocument/2006/relationships/image" Target="/ppt/media/image39.png" Id="Rc24392ac18b346f4" /><Relationship Type="http://schemas.openxmlformats.org/officeDocument/2006/relationships/image" Target="/ppt/media/image40.png" Id="R94f084e76b394348" /><Relationship Type="http://schemas.openxmlformats.org/officeDocument/2006/relationships/image" Target="/ppt/media/image41.png" Id="R428aa27d3fad4b20" /><Relationship Type="http://schemas.openxmlformats.org/officeDocument/2006/relationships/notesSlide" Target="/ppt/notesSlides/notesSlide13.xml" Id="Raf4f96bea21547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c384191c8834f89" /><Relationship Type="http://schemas.openxmlformats.org/officeDocument/2006/relationships/image" Target="/ppt/media/image42.png" Id="R3b48bd907d3a4663" /><Relationship Type="http://schemas.openxmlformats.org/officeDocument/2006/relationships/image" Target="/ppt/media/image43.png" Id="Recea523eca1a4744" /><Relationship Type="http://schemas.openxmlformats.org/officeDocument/2006/relationships/image" Target="/ppt/media/image44.png" Id="R4df90dacbb4f4e5b" /><Relationship Type="http://schemas.openxmlformats.org/officeDocument/2006/relationships/image" Target="/ppt/media/image45.png" Id="R23dab08424c54a07" /><Relationship Type="http://schemas.openxmlformats.org/officeDocument/2006/relationships/image" Target="/ppt/media/image46.png" Id="Rb94987681a714af9" /><Relationship Type="http://schemas.openxmlformats.org/officeDocument/2006/relationships/image" Target="/ppt/media/image47.png" Id="Rc7f3223c65d64220" /><Relationship Type="http://schemas.openxmlformats.org/officeDocument/2006/relationships/notesSlide" Target="/ppt/notesSlides/notesSlide14.xml" Id="Rc5a1129050c9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5eac8ca0224b12" /><Relationship Type="http://schemas.openxmlformats.org/officeDocument/2006/relationships/image" Target="/ppt/media/image48.png" Id="Rabe73f784a964301" /><Relationship Type="http://schemas.openxmlformats.org/officeDocument/2006/relationships/notesSlide" Target="/ppt/notesSlides/notesSlide15.xml" Id="R96d25522c44a4b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3265ec7f94b60" /><Relationship Type="http://schemas.openxmlformats.org/officeDocument/2006/relationships/image" Target="/ppt/media/image49.png" Id="R614cb4951100460d" /><Relationship Type="http://schemas.openxmlformats.org/officeDocument/2006/relationships/notesSlide" Target="/ppt/notesSlides/notesSlide16.xml" Id="Rbf3650b9a72d4d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f7e4b4e4e40d8" /><Relationship Type="http://schemas.openxmlformats.org/officeDocument/2006/relationships/image" Target="/ppt/media/image50.png" Id="R57b743ad8dd94494" /><Relationship Type="http://schemas.openxmlformats.org/officeDocument/2006/relationships/notesSlide" Target="/ppt/notesSlides/notesSlide17.xml" Id="R7e34671364864e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cc453d90a34538" /><Relationship Type="http://schemas.openxmlformats.org/officeDocument/2006/relationships/image" Target="/ppt/media/image51.png" Id="R1964619c4e3847a1" /><Relationship Type="http://schemas.openxmlformats.org/officeDocument/2006/relationships/notesSlide" Target="/ppt/notesSlides/notesSlide18.xml" Id="R7319d52cb0de4cb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401AC1"/>
            </a:gs>
            <a:gs pos="100000">
              <a:srgbClr val="280A41"/>
            </a:gs>
            <a:gs pos="75000">
              <a:srgbClr val="230A3A"/>
            </a:gs>
          </a:gsLst>
          <a:lin ang="27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2f615caac48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표 5"/>
          <p:cNvGraphicFramePr/>
          <p:nvPr/>
        </p:nvGraphicFramePr>
        <p:xfrm>
          <a:off xmlns:a="http://schemas.openxmlformats.org/drawingml/2006/main" x="527397" y="4563687"/>
          <a:ext xmlns:a="http://schemas.openxmlformats.org/drawingml/2006/main" cx="6712988" cy="111221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/>
                <a:gridCol w="4821419"/>
              </a:tblGrid>
              <a:tr h="547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환승로그</a:t>
                      </a:r>
                      <a:endParaRPr sz="2400"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BBBCDE"/>
                    </a:solidFill>
                  </a:tcPr>
                </a:tc>
              </a:tr>
              <a:tr h="56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3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환승로그</a:t>
                      </a:r>
                      <a:endParaRPr sz="2400"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BBBCD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ed82f35d84f93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표 2"/>
          <p:cNvGraphicFramePr/>
          <p:nvPr/>
        </p:nvGraphicFramePr>
        <p:xfrm>
          <a:off xmlns:a="http://schemas.openxmlformats.org/drawingml/2006/main" x="271088" y="1065402"/>
          <a:ext xmlns:a="http://schemas.openxmlformats.org/drawingml/2006/main" cx="11649825" cy="565487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893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환승로그 - 인천공항 환승객을 위한 상황 대응형 여행 서비스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2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서비스 (모바일·데스크톱 대응, 로그인 불필요)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893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타깃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인천공항 환승 중 한국 입국 조건을 확인한 외국인·내국인 개별여행객</a:t>
                      </a: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61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날씨·도착 지연·이동 상황에 맞춰 짧은 한국 여행과 공항 복귀 계획을 조정하는 웹 서비스.</a:t>
                      </a: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618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선택 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과제번호 1번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여행 중 실시간 변수 대응의 어려움</a:t>
                      </a: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808551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1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sz="1800" b="1" baseline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1">
                          <a:solidFill>
                            <a:schemeClr val="bg1"/>
                          </a:solidFill>
                        </a:rPr>
                        <a:t>선택</a:t>
                      </a:r>
                      <a:r>
                        <a:rPr sz="18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1800" b="1">
                          <a:solidFill>
                            <a:schemeClr val="bg1"/>
                          </a:solidFill>
                        </a:rPr>
                        <a:t>이유</a:t>
                      </a:r>
                      <a:endParaRPr sz="18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환승객은 다음 항공편이라는 고정된 시간 제약을 가진다. 날씨나 지연으로 여행 조건이 달라질 때, 관광 코스와 복귀 계획을 함께 다시 판단할 수 있도록 돕는다.</a:t>
                      </a: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환승로그  |  기능설명서  |  02">
            <a:extLst xmlns:a="http://schemas.openxmlformats.org/drawingml/2006/main">
              <a:ext uri="{FF2B5EF4-FFF2-40B4-BE49-F238E27FC236}">
                <a16:creationId xmlns:a16="http://schemas.microsoft.com/office/drawing/2014/main" id="{3DFB76AA-0383-4913-9B6B-C705EE6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02</a:t>
            </a:r>
          </a:p>
        </p:txBody>
      </p:sp>
    </p:spTree>
    <p:extLst>
      <p:ext uri="{BB962C8B-B14F-4D97-AF65-F5344CB8AC3E}">
        <p14:creationId xmlns:p14="http://schemas.microsoft.com/office/powerpoint/2010/main" val="1526000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e74dd366f4312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표 7"/>
          <p:cNvGraphicFramePr/>
          <p:nvPr/>
        </p:nvGraphicFramePr>
        <p:xfrm>
          <a:off xmlns:a="http://schemas.openxmlformats.org/drawingml/2006/main" x="271088" y="1065401"/>
          <a:ext xmlns:a="http://schemas.openxmlformats.org/drawingml/2006/main" cx="11649825" cy="5570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278514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지정과제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 기반</a:t>
                      </a:r>
                      <a:endParaRPr b="1" baseline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기획 방향</a:t>
                      </a:r>
                      <a:endParaRPr b="1" baseline="0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복귀 시간을 먼저 확보한다.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입출국 준비와 이동·추가 여유를 차감한 뒤 가능한 여행을 제시한다.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변화를 확인하고 선택하게 한다.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날씨·지연·현재 상황을 반영한 대안의 장소·비용·복귀 시각을 비교한다.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관광정보와 계획값을 구분한다.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운영정보·조회 시각·출처를 보여주고 방문 조건을 다시 확인하게 한다.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785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목록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#환승여행  #상황변화대응  #관광데이터  #공항복귀  #여행기록</a:t>
                      </a: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흐름: 조건 입력 → 코스 선택 → 변화 대응 → 공항 복귀 → 기록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서비스: https://hwanseung-log.jum4769.workers.dev</a:t>
                      </a:r>
                      <a:endParaRPr sz="1800" b="0" i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심사용 선택형 데모: https://hwanseung-log.jum4769.workers.dev/#demo</a:t>
                      </a:r>
                      <a:endParaRPr sz="1800" b="0" i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진입은 여행 소개 화면이며, 데모는 예시임을 표시해 별도로 실행한다.</a:t>
                      </a:r>
                      <a:endParaRPr sz="1800" b="0" i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환승로그  |  기능설명서  |  03">
            <a:extLst xmlns:a="http://schemas.openxmlformats.org/drawingml/2006/main">
              <a:ext uri="{FF2B5EF4-FFF2-40B4-BE49-F238E27FC236}">
                <a16:creationId xmlns:a16="http://schemas.microsoft.com/office/drawing/2014/main" id="{FFFAD90C-8B6E-4250-ABE9-E4F7759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03</a:t>
            </a:r>
          </a:p>
        </p:txBody>
      </p:sp>
    </p:spTree>
    <p:extLst>
      <p:ext uri="{BB962C8B-B14F-4D97-AF65-F5344CB8AC3E}">
        <p14:creationId xmlns:p14="http://schemas.microsoft.com/office/powerpoint/2010/main" val="732848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e913ef0df4372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표 8"/>
          <p:cNvGraphicFramePr/>
          <p:nvPr/>
        </p:nvGraphicFramePr>
        <p:xfrm>
          <a:off xmlns:a="http://schemas.openxmlformats.org/drawingml/2006/main" x="180961" y="1551963"/>
          <a:ext xmlns:a="http://schemas.openxmlformats.org/drawingml/2006/main" cx="11830079" cy="499374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/>
                <a:gridCol w="2620520"/>
                <a:gridCol w="6638940"/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</a:tr>
              <a:tr h="4543492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9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#환승여행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F01 환승 조건 입력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F02 가용시간 계산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F03 코스 추천·선택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F04 경유편 수동 비교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여행일, 도착·출발 시각, 다음 날 출발 여부, 터미널, 수하물 재수속, 입국 확인 상태, 준비시간, 예산·교통수단·취향을 입력한다.</a:t>
                      </a:r>
                      <a:endParaRPr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[처리·결과]</a:t>
                      </a: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입출국 준비와 추가 여유를 확보한 뒤, 시간·예산·기본 운영조건을 충족하는 1~2개 장소의 코스를 최대 6개 제시한다. 선택한 코스는 관람·이동·공항 복귀의 시간순 일정으로 표시한다.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1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[예외·부가 기능]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입국 미확인 또는 가용시간 부족 시 외부 관광을 추천하지 않는다. ICN·SIN·HND 경유편은 사용자가 입력한 가격과 체류시간을 비교한다. 항공권 검색·예약 기능은 제공하지 않는다.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F7B77A-9026-4B9B-893C-BFE62F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382365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해시태그 연계 핵심기능 및 상세내용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환승로그  |  기능설명서  |  04">
            <a:extLst xmlns:a="http://schemas.openxmlformats.org/drawingml/2006/main">
              <a:ext uri="{FF2B5EF4-FFF2-40B4-BE49-F238E27FC236}">
                <a16:creationId xmlns:a16="http://schemas.microsoft.com/office/drawing/2014/main" id="{6258724E-2924-4B5C-BBEF-DD52E5F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04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8e7a39e7246fd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표 8"/>
          <p:cNvGraphicFramePr/>
          <p:nvPr/>
        </p:nvGraphicFramePr>
        <p:xfrm>
          <a:off xmlns:a="http://schemas.openxmlformats.org/drawingml/2006/main" x="180961" y="1551963"/>
          <a:ext xmlns:a="http://schemas.openxmlformats.org/drawingml/2006/main" cx="11830079" cy="499374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/>
                <a:gridCol w="2620520"/>
                <a:gridCol w="6638940"/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</a:tr>
              <a:tr h="4543492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9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#상황변화대응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F05 날씨 예보 확인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F06 현재 상황 입력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F07 대안 비교·적용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F08 변경 이력 확인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[입력]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비·눈, 도착 지연, 편도 교통 지연, 현재 장소·시각, 남은 예산, 피로도를 반영한다. 인천 날씨 예보 조회와 당일 항공·교통정보 갱신도 지원한다.</a:t>
                      </a:r>
                      <a:endParaRPr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[처리·결과]</a:t>
                      </a: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비·눈이면 야외 장소를 제외하고, 지연과 현재 위치에 맞춰 남은 일정을 다시 계산한다. 원래 코스와 대체 코스의 장소·비용·복귀 시각 및 변경 이유를 보여준다. 사용자가 적용한 뒤 변경 이력을 남긴다.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1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[예외·범위]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조건을 충족하는 코스가 없으면 외부 관광을 권하지 않는다. 실시간 혼잡도는 측정하지 않는다. 미래·익일 일정의 전체 교통 갱신은 제한하며, 수동 상황 변경은 시뮬레이션으로 표시한다.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F7B77A-9026-4B9B-893C-BFE62F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382365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해시태그 연계 핵심기능 및 상세내용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환승로그  |  기능설명서  |  05">
            <a:extLst xmlns:a="http://schemas.openxmlformats.org/drawingml/2006/main">
              <a:ext uri="{FF2B5EF4-FFF2-40B4-BE49-F238E27FC236}">
                <a16:creationId xmlns:a16="http://schemas.microsoft.com/office/drawing/2014/main" id="{F0A23337-7F0E-4E04-AEEE-7902503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05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63172f0d54e1e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표 8"/>
          <p:cNvGraphicFramePr/>
          <p:nvPr/>
        </p:nvGraphicFramePr>
        <p:xfrm>
          <a:off xmlns:a="http://schemas.openxmlformats.org/drawingml/2006/main" x="180961" y="1551963"/>
          <a:ext xmlns:a="http://schemas.openxmlformats.org/drawingml/2006/main" cx="11830079" cy="499374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/>
                <a:gridCol w="2620520"/>
                <a:gridCol w="6638940"/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</a:tr>
              <a:tr h="4543492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9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#관광데이터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F09 장소 탐색·필터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F10 관광정보 조회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F11 운영정보 확인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F12 장소 제외·재계획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[탐색·조회]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인천·서울의 선별 관광지 8곳을 탐색하고 지역·취향·실내 여부로 좁힌다. 한국관광공사 국문 관광정보를 실시간 호출해 사진·주소·소개와 운영정보를 제공한다.</a:t>
                      </a:r>
                      <a:endParaRPr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[정합성·표시]</a:t>
                      </a: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장소명·콘텐츠 유형·좌표를 대조해 다른 장소의 정보가 연결되는 것을 줄인다. 운영시간, 휴관·공휴일 예외, 요금, 문의처, 조회 시각과 출처를 원문 중심으로 표시한다.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1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[판단·예외]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운영정보와 일정 계산용 계획값을 나눠 보여준다. 방문이 어려우면 해당 장소를 제외하고 대안을 비교한다. 누락값을 임의 생성하지 않으며, 공식 원문을 일정 계산 규칙으로 자동 해석하지 않는다.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F7B77A-9026-4B9B-893C-BFE62F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382365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해시태그 연계 핵심기능 및 상세내용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환승로그  |  기능설명서  |  06">
            <a:extLst xmlns:a="http://schemas.openxmlformats.org/drawingml/2006/main">
              <a:ext uri="{FF2B5EF4-FFF2-40B4-BE49-F238E27FC236}">
                <a16:creationId xmlns:a16="http://schemas.microsoft.com/office/drawing/2014/main" id="{29B83115-1F05-4B65-B7F4-8E6F297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06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258c911e64fc0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표 8"/>
          <p:cNvGraphicFramePr/>
          <p:nvPr/>
        </p:nvGraphicFramePr>
        <p:xfrm>
          <a:off xmlns:a="http://schemas.openxmlformats.org/drawingml/2006/main" x="180961" y="1551963"/>
          <a:ext xmlns:a="http://schemas.openxmlformats.org/drawingml/2006/main" cx="11830079" cy="499374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/>
                <a:gridCol w="2620520"/>
                <a:gridCol w="6638940"/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</a:tr>
              <a:tr h="4543492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9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#공항복귀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F13 복귀 상태 안내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F14 공항 이동 경로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F15 당일 일정 갱신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F16 출발 전 체크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[복귀 기준]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항공편 출발에서 출국 준비·추가 여유를 차감해 공항 도착 기준을 정한다. 계획상 복귀 출발, 교통정보의 조회 경과, 추정값 사용 여부를 함께 표시한다.</a:t>
                      </a:r>
                      <a:endParaRPr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[교통·항공 연계]</a:t>
                      </a: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장소와 T1·T2 사이의 대중교통 노선·구간·시간·확인 가능한 요금, 자동차·택시 예상 경로를 조회한다. 당일 일정은 전체 이동 구간을 조회한 뒤 비교·적용할 수 있다. 출발 지연으로 복귀 기준을 늦추지 않는다.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1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[예외·범위]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 실패·요금 미확인·일부 구간 누락은 표시하고 불완전한 갱신 적용을 막는다. 복귀 알림은 페이지가 열려 있을 때 동작한다. 실제 입국 자격이나 탑승 가능 여부를 보장하지 않는다.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F7B77A-9026-4B9B-893C-BFE62F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382365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해시태그 연계 핵심기능 및 상세내용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환승로그  |  기능설명서  |  07">
            <a:extLst xmlns:a="http://schemas.openxmlformats.org/drawingml/2006/main">
              <a:ext uri="{FF2B5EF4-FFF2-40B4-BE49-F238E27FC236}">
                <a16:creationId xmlns:a16="http://schemas.microsoft.com/office/drawing/2014/main" id="{3E2C58CE-D183-44E0-B350-993AD674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07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2fbe1f0244a90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01799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표 8"/>
          <p:cNvGraphicFramePr/>
          <p:nvPr/>
        </p:nvGraphicFramePr>
        <p:xfrm>
          <a:off xmlns:a="http://schemas.openxmlformats.org/drawingml/2006/main" x="180961" y="1551963"/>
          <a:ext xmlns:a="http://schemas.openxmlformats.org/drawingml/2006/main" cx="11830079" cy="499374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/>
                <a:gridCol w="2620520"/>
                <a:gridCol w="6638940"/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</a:tr>
              <a:tr h="4543492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9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#여행기록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F17 일정·메모 기록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F18 즐겨찾기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F19 백업·가져오기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F20 공유·출력</a:t>
                      </a:r>
                      <a:endParaRPr sz="1800" b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[기록·다시 보기]</a:t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일정을 여행 기록에 저장하고 제목·메모를 편집한다. 마음에 드는 장소는 즐겨찾기에 보관하며, 저장한 일정을 다시 열어 확인한다.</a:t>
                      </a:r>
                      <a:endParaRPr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sz="1800" b="0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[내보내기]</a:t>
                      </a: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텍스트 공유, 인쇄, 캘린더 파일 내보내기를 제공한다. 기록은 JSON 파일로 백업·가져오기를 지원해 다른 기기로 옮길 수 있다.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1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[보관·접근]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없이 이용하며 개인 계획·기록은 현재 브라우저에 저장한다. 데모와 개인 여행은 저장 공간을 분리한다. 한국어·영어 화면, 모바일 메뉴와 키보드 이용을 지원한다. 오프라인에서는 기본 화면을 제공하며 최신 API 조회에는 네트워크가 필요하다.</a:t>
                      </a:r>
                      <a:endParaRPr sz="1800" b="0" i="1" baseline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7F7B77A-9026-4B9B-893C-BFE62F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382365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해시태그 연계 핵심기능 및 상세내용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10" name="환승로그  |  기능설명서  |  08">
            <a:extLst xmlns:a="http://schemas.openxmlformats.org/drawingml/2006/main">
              <a:ext uri="{FF2B5EF4-FFF2-40B4-BE49-F238E27FC236}">
                <a16:creationId xmlns:a16="http://schemas.microsoft.com/office/drawing/2014/main" id="{010769D8-05A1-491E-A147-FA300AD5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08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40a04a414a91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표 4"/>
          <p:cNvGraphicFramePr/>
          <p:nvPr/>
        </p:nvGraphicFramePr>
        <p:xfrm>
          <a:off xmlns:a="http://schemas.openxmlformats.org/drawingml/2006/main" x="302952" y="2702225"/>
          <a:ext xmlns:a="http://schemas.openxmlformats.org/drawingml/2006/main" cx="11426308" cy="383694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8100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34315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환승 조건 입력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도착·출발 시각과 터미널, 수하물 조건을 입력한다.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여행 조건 확인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입국 가능 여부를 확인하고 준비시간·예산·취향을 정한다.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후보 코스 비교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관광시간·비용·공항 복귀 시각을 비교한다.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일정 선택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코스의 시간순 일정과 복귀 여유를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표 5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1371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#환승여행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환승 조건에 맞는 짧은 여행 설계 (시연 화면)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준비시간과 복귀 여유를 먼저 확보하고, 남은 시간·예산 안에서 관광 코스를 선택한다.</a:t>
                      </a:r>
                      <a:endParaRPr b="0">
                        <a:solidFill>
                          <a:srgbClr val="FF0000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d287d47104e1f"/>
          <a:stretch xmlns:a="http://schemas.openxmlformats.org/drawingml/2006/main"/>
        </p:blipFill>
        <p:spPr>
          <a:xfrm xmlns:a="http://schemas.openxmlformats.org/drawingml/2006/main">
            <a:off x="371475" y="3503452"/>
            <a:ext cx="2705100" cy="1479871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933173ed04d86"/>
          <a:stretch xmlns:a="http://schemas.openxmlformats.org/drawingml/2006/main"/>
        </p:blipFill>
        <p:spPr>
          <a:xfrm xmlns:a="http://schemas.openxmlformats.org/drawingml/2006/main">
            <a:off x="3228023" y="3521656"/>
            <a:ext cx="2705100" cy="1443462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f579c33404cb3"/>
          <a:stretch xmlns:a="http://schemas.openxmlformats.org/drawingml/2006/main"/>
        </p:blipFill>
        <p:spPr>
          <a:xfrm xmlns:a="http://schemas.openxmlformats.org/drawingml/2006/main">
            <a:off x="6084570" y="3548685"/>
            <a:ext cx="2705100" cy="1389404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fb02a6c34486"/>
          <a:stretch xmlns:a="http://schemas.openxmlformats.org/drawingml/2006/main"/>
        </p:blipFill>
        <p:spPr>
          <a:xfrm xmlns:a="http://schemas.openxmlformats.org/drawingml/2006/main">
            <a:off x="9016853" y="3152775"/>
            <a:ext cx="2553629" cy="2181225"/>
          </a:xfrm>
          <a:prstGeom xmlns:a="http://schemas.openxmlformats.org/drawingml/2006/main" prst="rect">
            <a:avLst/>
          </a:prstGeom>
        </p:spPr>
      </p:pic>
      <p:sp>
        <p:nvSpPr>
          <p:cNvPr id="15" name="환승로그  |  기능설명서  |  09">
            <a:extLst xmlns:a="http://schemas.openxmlformats.org/drawingml/2006/main">
              <a:ext uri="{FF2B5EF4-FFF2-40B4-BE49-F238E27FC236}">
                <a16:creationId xmlns:a16="http://schemas.microsoft.com/office/drawing/2014/main" id="{CB632E2F-79D9-4428-A7C3-F3EE626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09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14cb8b2dc438d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표 4"/>
          <p:cNvGraphicFramePr/>
          <p:nvPr/>
        </p:nvGraphicFramePr>
        <p:xfrm>
          <a:off xmlns:a="http://schemas.openxmlformats.org/drawingml/2006/main" x="302952" y="2702225"/>
          <a:ext xmlns:a="http://schemas.openxmlformats.org/drawingml/2006/main" cx="11426308" cy="383694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8100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34315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기존 일정 확인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송도 산책과 박물관 방문 일정을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바뀐 상황 입력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비·지연·현재 장소·남은 예산 등 달라진 조건을 입력한다.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변경 전후 비교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야외 장소 제외 이유와 예상 복귀·비용을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선택 후 적용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대안을 적용하고 변경된 일정과 이력을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표 5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1371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#상황변화대응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비교를 통한 여행 재계획 (시연 화면)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상황을 입력하면 대체 코스를 제시하고, 사용자가 변경 이유와 복귀 시각을 비교한 뒤 적용한다.</a:t>
                      </a:r>
                      <a:endParaRPr b="0">
                        <a:solidFill>
                          <a:srgbClr val="FF0000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5031948cd4d2a"/>
          <a:stretch xmlns:a="http://schemas.openxmlformats.org/drawingml/2006/main"/>
        </p:blipFill>
        <p:spPr>
          <a:xfrm xmlns:a="http://schemas.openxmlformats.org/drawingml/2006/main">
            <a:off x="447210" y="3152775"/>
            <a:ext cx="2553629" cy="218122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fe1b9eb1242c4"/>
          <a:stretch xmlns:a="http://schemas.openxmlformats.org/drawingml/2006/main"/>
        </p:blipFill>
        <p:spPr>
          <a:xfrm xmlns:a="http://schemas.openxmlformats.org/drawingml/2006/main">
            <a:off x="3494634" y="3152775"/>
            <a:ext cx="2171877" cy="218122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c2713d5954cfe"/>
          <a:stretch xmlns:a="http://schemas.openxmlformats.org/drawingml/2006/main"/>
        </p:blipFill>
        <p:spPr>
          <a:xfrm xmlns:a="http://schemas.openxmlformats.org/drawingml/2006/main">
            <a:off x="6084570" y="3442581"/>
            <a:ext cx="2705100" cy="1601613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edb53f1aa4d09"/>
          <a:stretch xmlns:a="http://schemas.openxmlformats.org/drawingml/2006/main"/>
        </p:blipFill>
        <p:spPr>
          <a:xfrm xmlns:a="http://schemas.openxmlformats.org/drawingml/2006/main">
            <a:off x="8941118" y="3242125"/>
            <a:ext cx="2705100" cy="2002525"/>
          </a:xfrm>
          <a:prstGeom xmlns:a="http://schemas.openxmlformats.org/drawingml/2006/main" prst="rect">
            <a:avLst/>
          </a:prstGeom>
        </p:spPr>
      </p:pic>
      <p:sp>
        <p:nvSpPr>
          <p:cNvPr id="15" name="환승로그  |  기능설명서  |  10">
            <a:extLst xmlns:a="http://schemas.openxmlformats.org/drawingml/2006/main">
              <a:ext uri="{FF2B5EF4-FFF2-40B4-BE49-F238E27FC236}">
                <a16:creationId xmlns:a16="http://schemas.microsoft.com/office/drawing/2014/main" id="{6E0D3C19-C701-4C38-9A59-298DD0E9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10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6c5b237e34bec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표 4"/>
          <p:cNvGraphicFramePr/>
          <p:nvPr/>
        </p:nvGraphicFramePr>
        <p:xfrm>
          <a:off xmlns:a="http://schemas.openxmlformats.org/drawingml/2006/main" x="302952" y="2702225"/>
          <a:ext xmlns:a="http://schemas.openxmlformats.org/drawingml/2006/main" cx="11426308" cy="383694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8100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34315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장소 탐색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지역·취향·실내 조건으로 관광지를 살펴본다.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공식 정보 확인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운영시간·휴관일·요금과 제공기관 출처를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방문 조건 판단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계획값과 공식 안내를 비교하고, 방문이 어렵다면 제외한다.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대안 검토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제외한 장소 없이 다시 계산된 코스를 비교·적용한다.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표 5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1371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#관광데이터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관광정보 확인과 방문 장소 조정 (시연 화면)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관광공사의 운영정보를 읽고 방문 가능성을 확인한 뒤, 필요하면 장소를 제외하고 다시 계획한다.</a:t>
                      </a:r>
                      <a:endParaRPr b="0">
                        <a:solidFill>
                          <a:srgbClr val="FF0000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d6ec67bb94294"/>
          <a:stretch xmlns:a="http://schemas.openxmlformats.org/drawingml/2006/main"/>
        </p:blipFill>
        <p:spPr>
          <a:xfrm xmlns:a="http://schemas.openxmlformats.org/drawingml/2006/main">
            <a:off x="419123" y="3152775"/>
            <a:ext cx="2609804" cy="218122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4cc9e826e4332"/>
          <a:stretch xmlns:a="http://schemas.openxmlformats.org/drawingml/2006/main"/>
        </p:blipFill>
        <p:spPr>
          <a:xfrm xmlns:a="http://schemas.openxmlformats.org/drawingml/2006/main">
            <a:off x="3228023" y="3338774"/>
            <a:ext cx="2705100" cy="1809227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499331a2a4e22"/>
          <a:stretch xmlns:a="http://schemas.openxmlformats.org/drawingml/2006/main"/>
        </p:blipFill>
        <p:spPr>
          <a:xfrm xmlns:a="http://schemas.openxmlformats.org/drawingml/2006/main">
            <a:off x="6084570" y="3504838"/>
            <a:ext cx="2705100" cy="1477098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30628e9c941a4"/>
          <a:stretch xmlns:a="http://schemas.openxmlformats.org/drawingml/2006/main"/>
        </p:blipFill>
        <p:spPr>
          <a:xfrm xmlns:a="http://schemas.openxmlformats.org/drawingml/2006/main">
            <a:off x="8941118" y="3442581"/>
            <a:ext cx="2705100" cy="1601613"/>
          </a:xfrm>
          <a:prstGeom xmlns:a="http://schemas.openxmlformats.org/drawingml/2006/main" prst="rect">
            <a:avLst/>
          </a:prstGeom>
        </p:spPr>
      </p:pic>
      <p:sp>
        <p:nvSpPr>
          <p:cNvPr id="15" name="환승로그  |  기능설명서  |  11">
            <a:extLst xmlns:a="http://schemas.openxmlformats.org/drawingml/2006/main">
              <a:ext uri="{FF2B5EF4-FFF2-40B4-BE49-F238E27FC236}">
                <a16:creationId xmlns:a16="http://schemas.microsoft.com/office/drawing/2014/main" id="{C60E0D6F-FA14-4486-81C9-73069A75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11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299d2a4dc4dea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표 4"/>
          <p:cNvGraphicFramePr/>
          <p:nvPr/>
        </p:nvGraphicFramePr>
        <p:xfrm>
          <a:off xmlns:a="http://schemas.openxmlformats.org/drawingml/2006/main" x="302952" y="2702225"/>
          <a:ext xmlns:a="http://schemas.openxmlformats.org/drawingml/2006/main" cx="11426308" cy="383694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8100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34315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복귀 기준 확인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출발 준비와 추가 여유를 제외한 공항 도착 기준을 읽는다.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대중교통 조회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장소·터미널·방향을 선택하고 노선·시간·요금을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부족한 시간 대응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관광이 어려우면 외부 코스 대신 공항 복귀를 검토한다.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공식 조건 확인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입국·수하물·운영시간·항공사 수속 마감을 점검한다.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표 5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1371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#공항복귀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 기준과 실제 교통 경로 확인 (시연 화면)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공항 도착 기준을 유지하면서 복귀 경로를 조회하고, 조건이 부족하면 복귀를 우선하도록 안내한다.</a:t>
                      </a:r>
                      <a:endParaRPr b="0">
                        <a:solidFill>
                          <a:srgbClr val="FF0000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0c7a4086e4715"/>
          <a:stretch xmlns:a="http://schemas.openxmlformats.org/drawingml/2006/main"/>
        </p:blipFill>
        <p:spPr>
          <a:xfrm xmlns:a="http://schemas.openxmlformats.org/drawingml/2006/main">
            <a:off x="371475" y="3820942"/>
            <a:ext cx="2705100" cy="84489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d98bc8a7d4e25"/>
          <a:stretch xmlns:a="http://schemas.openxmlformats.org/drawingml/2006/main"/>
        </p:blipFill>
        <p:spPr>
          <a:xfrm xmlns:a="http://schemas.openxmlformats.org/drawingml/2006/main">
            <a:off x="3228023" y="3414545"/>
            <a:ext cx="2705100" cy="165768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53f952e4c4625"/>
          <a:stretch xmlns:a="http://schemas.openxmlformats.org/drawingml/2006/main"/>
        </p:blipFill>
        <p:spPr>
          <a:xfrm xmlns:a="http://schemas.openxmlformats.org/drawingml/2006/main">
            <a:off x="6084570" y="3347453"/>
            <a:ext cx="2705100" cy="1791869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d6245e8384acc"/>
          <a:stretch xmlns:a="http://schemas.openxmlformats.org/drawingml/2006/main"/>
        </p:blipFill>
        <p:spPr>
          <a:xfrm xmlns:a="http://schemas.openxmlformats.org/drawingml/2006/main">
            <a:off x="9009283" y="3152775"/>
            <a:ext cx="2568770" cy="2181225"/>
          </a:xfrm>
          <a:prstGeom xmlns:a="http://schemas.openxmlformats.org/drawingml/2006/main" prst="rect">
            <a:avLst/>
          </a:prstGeom>
        </p:spPr>
      </p:pic>
      <p:sp>
        <p:nvSpPr>
          <p:cNvPr id="15" name="환승로그  |  기능설명서  |  12">
            <a:extLst xmlns:a="http://schemas.openxmlformats.org/drawingml/2006/main">
              <a:ext uri="{FF2B5EF4-FFF2-40B4-BE49-F238E27FC236}">
                <a16:creationId xmlns:a16="http://schemas.microsoft.com/office/drawing/2014/main" id="{9CDFEBCC-8CE9-42FC-9021-15351BF4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12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9ffde3fcd418d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2085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표 4"/>
          <p:cNvGraphicFramePr/>
          <p:nvPr/>
        </p:nvGraphicFramePr>
        <p:xfrm>
          <a:off xmlns:a="http://schemas.openxmlformats.org/drawingml/2006/main" x="302952" y="2702225"/>
          <a:ext xmlns:a="http://schemas.openxmlformats.org/drawingml/2006/main" cx="11426308" cy="3836943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81000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34315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기록할 일정 선택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일정에서 여행 기록 저장 또는 여행 메모를 선택한다.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메모 작성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여행 메모에 기억할 내용을 작성해 저장한다.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기록 다시 보기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저장된 여행과 즐겨찾기를 살펴보고 일정을 다시 연다.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내보내기·백업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공유·인쇄·캘린더 또는 기록 백업을 이용한다.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표 5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1371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#여행기록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72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일정·메모 저장과 여행 정보 내보내기 (시연 화면)</a:t>
                      </a:r>
                      <a:endParaRPr b="0" i="1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여행 일정과 메모를 기기에 보관하고, 공유·캘린더·백업 기능으로 다시 활용한다.</a:t>
                      </a:r>
                      <a:endParaRPr b="0">
                        <a:solidFill>
                          <a:srgbClr val="FF0000"/>
                        </a:solidFill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b8e87ca9d47ea"/>
          <a:stretch xmlns:a="http://schemas.openxmlformats.org/drawingml/2006/main"/>
        </p:blipFill>
        <p:spPr>
          <a:xfrm xmlns:a="http://schemas.openxmlformats.org/drawingml/2006/main">
            <a:off x="371475" y="3692209"/>
            <a:ext cx="2705100" cy="1102356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392ac18b346f4"/>
          <a:stretch xmlns:a="http://schemas.openxmlformats.org/drawingml/2006/main"/>
        </p:blipFill>
        <p:spPr>
          <a:xfrm xmlns:a="http://schemas.openxmlformats.org/drawingml/2006/main">
            <a:off x="3228023" y="3332095"/>
            <a:ext cx="2705100" cy="182258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084e76b394348"/>
          <a:stretch xmlns:a="http://schemas.openxmlformats.org/drawingml/2006/main"/>
        </p:blipFill>
        <p:spPr>
          <a:xfrm xmlns:a="http://schemas.openxmlformats.org/drawingml/2006/main">
            <a:off x="6155352" y="3152775"/>
            <a:ext cx="2563537" cy="218122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aa27d3fad4b20"/>
          <a:stretch xmlns:a="http://schemas.openxmlformats.org/drawingml/2006/main"/>
        </p:blipFill>
        <p:spPr>
          <a:xfrm xmlns:a="http://schemas.openxmlformats.org/drawingml/2006/main">
            <a:off x="8941118" y="3857974"/>
            <a:ext cx="2705100" cy="770827"/>
          </a:xfrm>
          <a:prstGeom xmlns:a="http://schemas.openxmlformats.org/drawingml/2006/main" prst="rect">
            <a:avLst/>
          </a:prstGeom>
        </p:spPr>
      </p:pic>
      <p:sp>
        <p:nvSpPr>
          <p:cNvPr id="15" name="환승로그  |  기능설명서  |  13">
            <a:extLst xmlns:a="http://schemas.openxmlformats.org/drawingml/2006/main">
              <a:ext uri="{FF2B5EF4-FFF2-40B4-BE49-F238E27FC236}">
                <a16:creationId xmlns:a16="http://schemas.microsoft.com/office/drawing/2014/main" id="{B99BA07D-8F7B-4173-B07D-B66075FA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13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8bd907d3a4663"/>
          <a:stretch xmlns:a="http://schemas.openxmlformats.org/drawingml/2006/main"/>
        </p:blipFill>
        <p:spPr>
          <a:xfrm xmlns:a="http://schemas.openxmlformats.org/drawingml/2006/main">
            <a:off x="0" y="0"/>
            <a:ext cx="12146070" cy="684943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3" name="표 2"/>
          <p:cNvGraphicFramePr/>
          <p:nvPr/>
        </p:nvGraphicFramePr>
        <p:xfrm>
          <a:off xmlns:a="http://schemas.openxmlformats.org/drawingml/2006/main" x="271088" y="1065401"/>
          <a:ext xmlns:a="http://schemas.openxmlformats.org/drawingml/2006/main" cx="11649825" cy="5570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2785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)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785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a523eca1a4744"/>
          <a:stretch xmlns:a="http://schemas.openxmlformats.org/drawingml/2006/main"/>
        </p:blipFill>
        <p:spPr>
          <a:xfrm xmlns:a="http://schemas.openxmlformats.org/drawingml/2006/main">
            <a:off x="3321718" y="1171575"/>
            <a:ext cx="3053013" cy="2486025"/>
          </a:xfrm>
          <a:prstGeom xmlns:a="http://schemas.openxmlformats.org/drawingml/2006/main" prst="rect">
            <a:avLst/>
          </a:prstGeom>
        </p:spPr>
      </p:pic>
      <p:sp>
        <p:nvSpPr>
          <p:cNvPr id="4" name="환승로그&#10;인천공항 환승객의&#10;작은 여행과 공항 복귀">
            <a:extLst xmlns:a="http://schemas.openxmlformats.org/drawingml/2006/main">
              <a:ext uri="{FF2B5EF4-FFF2-40B4-BE49-F238E27FC236}">
                <a16:creationId xmlns:a16="http://schemas.microsoft.com/office/drawing/2014/main" id="{C5BFB79E-EE32-4F44-A903-45C3E1D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14475"/>
            <a:ext cx="39624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인천공항 환승객의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작은 여행과 공항 복귀</a:t>
            </a:r>
          </a:p>
        </p:txBody>
      </p:sp>
      <p:sp>
        <p:nvSpPr>
          <p:cNvPr id="5" name="기본 진입: 여행 소개 화면&#10;체험: 별도 데모 링크&#10;로그인 없이 이용">
            <a:extLst xmlns:a="http://schemas.openxmlformats.org/drawingml/2006/main">
              <a:ext uri="{FF2B5EF4-FFF2-40B4-BE49-F238E27FC236}">
                <a16:creationId xmlns:a16="http://schemas.microsoft.com/office/drawing/2014/main" id="{471DFAA0-D198-4434-A831-A327834A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1300"/>
            <a:ext cx="3962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기본 진입: 여행 소개 화면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체험: 별도 데모 링크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로그인 없이 이용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90dacbb4f4e5b"/>
          <a:stretch xmlns:a="http://schemas.openxmlformats.org/drawingml/2006/main"/>
        </p:blipFill>
        <p:spPr>
          <a:xfrm xmlns:a="http://schemas.openxmlformats.org/drawingml/2006/main">
            <a:off x="2362200" y="4459344"/>
            <a:ext cx="2257425" cy="1234962"/>
          </a:xfrm>
          <a:prstGeom xmlns:a="http://schemas.openxmlformats.org/drawingml/2006/main" prst="rect">
            <a:avLst/>
          </a:prstGeom>
        </p:spPr>
      </p:pic>
      <p:sp>
        <p:nvSpPr>
          <p:cNvPr id="7" name="환승 조건 입력">
            <a:extLst xmlns:a="http://schemas.openxmlformats.org/drawingml/2006/main">
              <a:ext uri="{FF2B5EF4-FFF2-40B4-BE49-F238E27FC236}">
                <a16:creationId xmlns:a16="http://schemas.microsoft.com/office/drawing/2014/main" id="{9E373B1B-CF72-4DA6-B5EE-84BB572A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257925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 조건 입력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ab08424c54a07"/>
          <a:stretch xmlns:a="http://schemas.openxmlformats.org/drawingml/2006/main"/>
        </p:blipFill>
        <p:spPr>
          <a:xfrm xmlns:a="http://schemas.openxmlformats.org/drawingml/2006/main">
            <a:off x="4724400" y="4408546"/>
            <a:ext cx="2257425" cy="1336557"/>
          </a:xfrm>
          <a:prstGeom xmlns:a="http://schemas.openxmlformats.org/drawingml/2006/main" prst="rect">
            <a:avLst/>
          </a:prstGeom>
        </p:spPr>
      </p:pic>
      <p:sp>
        <p:nvSpPr>
          <p:cNvPr id="9" name="변경 전후 비교">
            <a:extLst xmlns:a="http://schemas.openxmlformats.org/drawingml/2006/main">
              <a:ext uri="{FF2B5EF4-FFF2-40B4-BE49-F238E27FC236}">
                <a16:creationId xmlns:a16="http://schemas.microsoft.com/office/drawing/2014/main" id="{CD21793F-8FCC-4C02-B900-4D2E2B0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257925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변경 전후 비교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987681a714af9"/>
          <a:stretch xmlns:a="http://schemas.openxmlformats.org/drawingml/2006/main"/>
        </p:blipFill>
        <p:spPr>
          <a:xfrm xmlns:a="http://schemas.openxmlformats.org/drawingml/2006/main">
            <a:off x="7086600" y="4321919"/>
            <a:ext cx="2257425" cy="1509813"/>
          </a:xfrm>
          <a:prstGeom xmlns:a="http://schemas.openxmlformats.org/drawingml/2006/main" prst="rect">
            <a:avLst/>
          </a:prstGeom>
        </p:spPr>
      </p:pic>
      <p:sp>
        <p:nvSpPr>
          <p:cNvPr id="11" name="공식 관광 운영정보">
            <a:extLst xmlns:a="http://schemas.openxmlformats.org/drawingml/2006/main">
              <a:ext uri="{FF2B5EF4-FFF2-40B4-BE49-F238E27FC236}">
                <a16:creationId xmlns:a16="http://schemas.microsoft.com/office/drawing/2014/main" id="{42475343-C52F-4338-AACC-EFFA0CA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257925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공식 관광 운영정보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3223c65d64220"/>
          <a:stretch xmlns:a="http://schemas.openxmlformats.org/drawingml/2006/main"/>
        </p:blipFill>
        <p:spPr>
          <a:xfrm xmlns:a="http://schemas.openxmlformats.org/drawingml/2006/main">
            <a:off x="9448800" y="4385150"/>
            <a:ext cx="2257425" cy="1383350"/>
          </a:xfrm>
          <a:prstGeom xmlns:a="http://schemas.openxmlformats.org/drawingml/2006/main" prst="rect">
            <a:avLst/>
          </a:prstGeom>
        </p:spPr>
      </p:pic>
      <p:sp>
        <p:nvSpPr>
          <p:cNvPr id="13" name="공항 대중교통 경로">
            <a:extLst xmlns:a="http://schemas.openxmlformats.org/drawingml/2006/main">
              <a:ext uri="{FF2B5EF4-FFF2-40B4-BE49-F238E27FC236}">
                <a16:creationId xmlns:a16="http://schemas.microsoft.com/office/drawing/2014/main" id="{B4FF76D3-5C39-465C-BF84-AD5D176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257925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공항 대중교통 경로</a:t>
            </a:r>
          </a:p>
        </p:txBody>
      </p:sp>
      <p:sp>
        <p:nvSpPr>
          <p:cNvPr id="14" name="환승로그  |  기능설명서  |  14">
            <a:extLst xmlns:a="http://schemas.openxmlformats.org/drawingml/2006/main">
              <a:ext uri="{FF2B5EF4-FFF2-40B4-BE49-F238E27FC236}">
                <a16:creationId xmlns:a16="http://schemas.microsoft.com/office/drawing/2014/main" id="{10601259-1FF8-4787-BC7D-E073A61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14</a:t>
            </a:r>
          </a:p>
        </p:txBody>
      </p:sp>
    </p:spTree>
    <p:extLst>
      <p:ext uri="{BB962C8B-B14F-4D97-AF65-F5344CB8AC3E}">
        <p14:creationId xmlns:p14="http://schemas.microsoft.com/office/powerpoint/2010/main" val="28229692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73f784a964301"/>
          <a:stretch xmlns:a="http://schemas.openxmlformats.org/drawingml/2006/main"/>
        </p:blipFill>
        <p:spPr>
          <a:xfrm xmlns:a="http://schemas.openxmlformats.org/drawingml/2006/main">
            <a:off x="0" y="0"/>
            <a:ext cx="12107964" cy="6830378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50BEC8-3C66-4F57-A630-123A55C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4770658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한국관광공사 </a:t>
            </a:r>
            <a:r>
              <a:rPr sz="1400" b="1">
                <a:solidFill>
                  <a:schemeClr val="bg1"/>
                </a:solidFill>
              </a:rPr>
              <a:t>OpenAPI </a:t>
            </a:r>
            <a:r>
              <a:rPr sz="1400" b="1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12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746191" cy="3789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50"/>
                <a:gridCol w="1834747"/>
                <a:gridCol w="9081994"/>
              </a:tblGrid>
              <a:tr h="37897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한국관광공사 국문 관광정보 서비스 - searchKeyword2</a:t>
                      </a: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 검색 후 명칭·유형·좌표 대조, 콘텐츠 ID·사진·주소 연결</a:t>
                      </a: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한국관광공사 국문 관광정보 서비스 - detailCommon2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 소개·주소·홈페이지·문의 등 공통 상세정보 제공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한국관광공사 국문 관광정보 서비스 - detailIntro2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운영시간·휴관일·요금 원문·문의정보를 방문 전 확인 화면에 제공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사용 API 없음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사용 API 없음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897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활용 방식: 이용자가 조회할 때 호출하며, 원본 응답을 DB·브라우저 저장소·오프">
            <a:extLst xmlns:a="http://schemas.openxmlformats.org/drawingml/2006/main">
              <a:ext uri="{FF2B5EF4-FFF2-40B4-BE49-F238E27FC236}">
                <a16:creationId xmlns:a16="http://schemas.microsoft.com/office/drawing/2014/main" id="{F8444D03-8404-4191-BFE6-6D70A55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734050"/>
            <a:ext cx="11553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활용 방식: 이용자가 조회할 때 호출하며, 원본 응답을 DB·브라우저 저장소·오프라인 캐시에 저장하지 않는다.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출처: ⓒ한국관광공사. 원문 운영정보와 자체 계획값을 구분하며, 누락된 정보는 임의로 생성하지 않는다.</a:t>
            </a:r>
          </a:p>
        </p:txBody>
      </p:sp>
      <p:sp>
        <p:nvSpPr>
          <p:cNvPr id="7" name="환승로그  |  기능설명서  |  15">
            <a:extLst xmlns:a="http://schemas.openxmlformats.org/drawingml/2006/main">
              <a:ext uri="{FF2B5EF4-FFF2-40B4-BE49-F238E27FC236}">
                <a16:creationId xmlns:a16="http://schemas.microsoft.com/office/drawing/2014/main" id="{16757C1A-7D5D-4D90-AF42-01608A08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15</a:t>
            </a:r>
          </a:p>
        </p:txBody>
      </p:sp>
    </p:spTree>
    <p:extLst>
      <p:ext uri="{BB962C8B-B14F-4D97-AF65-F5344CB8AC3E}">
        <p14:creationId xmlns:p14="http://schemas.microsoft.com/office/powerpoint/2010/main" val="222294703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cb4951100460d"/>
          <a:stretch xmlns:a="http://schemas.openxmlformats.org/drawingml/2006/main"/>
        </p:blipFill>
        <p:spPr>
          <a:xfrm xmlns:a="http://schemas.openxmlformats.org/drawingml/2006/main">
            <a:off x="0" y="0"/>
            <a:ext cx="12127017" cy="6820852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A1335B-D556-4319-ABBE-0DB6EF0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89358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기타 </a:t>
            </a:r>
            <a:r>
              <a:rPr sz="1400" b="1">
                <a:solidFill>
                  <a:schemeClr val="bg1"/>
                </a:solidFill>
              </a:rPr>
              <a:t>API, </a:t>
            </a:r>
            <a:r>
              <a:rPr sz="1400" b="1">
                <a:solidFill>
                  <a:schemeClr val="bg1"/>
                </a:solidFill>
              </a:rPr>
              <a:t>파일데이터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15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2265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인천국제공항공사 여객편 운항정보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당일 편명·운항 상태·예정/변경 시각·터미널·게이트 조회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ODsay 대중교통 길찾기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공항 이동 및 당일 코스 구간의 노선·시간·확인 가능한 요금 조회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Kakao Mobility 자동차 길찾기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자동차 이동시간과 택시 예상 요금·통행료를 교통 조회에 활용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교통 조회는 조회 시점의 예상값이다. 요금 미확인·경로 없음·호출 실패 상태를 구">
            <a:extLst xmlns:a="http://schemas.openxmlformats.org/drawingml/2006/main">
              <a:ext uri="{FF2B5EF4-FFF2-40B4-BE49-F238E27FC236}">
                <a16:creationId xmlns:a16="http://schemas.microsoft.com/office/drawing/2014/main" id="{E98E2ED4-4240-4C81-B84A-FE7B8351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719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교통 조회는 조회 시점의 예상값이다. 요금 미확인·경로 없음·호출 실패 상태를 구분해 표시한다.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당일 전체 일정 갱신은 모든 구간이 확인된 경우 비교 후 적용하며, 출발 지연으로 복귀 기준을 연장하지 않는다.</a:t>
            </a:r>
          </a:p>
        </p:txBody>
      </p:sp>
      <p:sp>
        <p:nvSpPr>
          <p:cNvPr id="10" name="환승로그  |  기능설명서  |  16">
            <a:extLst xmlns:a="http://schemas.openxmlformats.org/drawingml/2006/main">
              <a:ext uri="{FF2B5EF4-FFF2-40B4-BE49-F238E27FC236}">
                <a16:creationId xmlns:a16="http://schemas.microsoft.com/office/drawing/2014/main" id="{642B663A-3ADF-4BDF-9E34-EB7025D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16</a:t>
            </a: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743ad8dd94494"/>
          <a:stretch xmlns:a="http://schemas.openxmlformats.org/drawingml/2006/main"/>
        </p:blipFill>
        <p:spPr>
          <a:xfrm xmlns:a="http://schemas.openxmlformats.org/drawingml/2006/main">
            <a:off x="0" y="0"/>
            <a:ext cx="12127017" cy="6820852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A1335B-D556-4319-ABBE-0DB6EF0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89358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247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기타 </a:t>
            </a:r>
            <a:r>
              <a:rPr sz="1400" b="1">
                <a:solidFill>
                  <a:schemeClr val="bg1"/>
                </a:solidFill>
              </a:rPr>
              <a:t>API, </a:t>
            </a:r>
            <a:r>
              <a:rPr sz="1400" b="1">
                <a:solidFill>
                  <a:schemeClr val="bg1"/>
                </a:solidFill>
              </a:rPr>
              <a:t>파일데이터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15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2265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Open-Meteo 날씨 예보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날짜의 인천 기온·주간 강수 가능성 제공 (장소별 예보 아님)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자체 선별 관광지·계획 기준 파일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관광지 8곳, 관람시간·기본 운영조건·예상 이동시간·비용으로 초기 코스 계산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650" b="1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OpenStreetMap 임베드 지도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7619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1575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 상세 화면의 위치 지도 표시. 네이버 지도·기관 홈페이지는 외부 링크로 연결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133350" marR="133350" marT="28575" marB="28575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기본 계획용 파일은 서비스에서 선별·작성한 추정 기준이며 공식 API 응답의 복제">
            <a:extLst xmlns:a="http://schemas.openxmlformats.org/drawingml/2006/main">
              <a:ext uri="{FF2B5EF4-FFF2-40B4-BE49-F238E27FC236}">
                <a16:creationId xmlns:a16="http://schemas.microsoft.com/office/drawing/2014/main" id="{F7286EF5-40EF-40DA-9A42-B511866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71975"/>
            <a:ext cx="1133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기본 계획용 파일은 서비스에서 선별·작성한 추정 기준이며 공식 API 응답의 복제본이 아니다.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날씨는 인천의 예보이다. 국문 관광정보의 원문은 영어 화면에서도 한국어로 표시될 수 있다.</a:t>
            </a:r>
          </a:p>
        </p:txBody>
      </p:sp>
      <p:sp>
        <p:nvSpPr>
          <p:cNvPr id="10" name="환승로그  |  기능설명서  |  17">
            <a:extLst xmlns:a="http://schemas.openxmlformats.org/drawingml/2006/main">
              <a:ext uri="{FF2B5EF4-FFF2-40B4-BE49-F238E27FC236}">
                <a16:creationId xmlns:a16="http://schemas.microsoft.com/office/drawing/2014/main" id="{FD26D915-066C-4B87-93D1-F90D58A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17</a:t>
            </a: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4619c4e3847a1"/>
          <a:stretch xmlns:a="http://schemas.openxmlformats.org/drawingml/2006/main"/>
        </p:blipFill>
        <p:spPr>
          <a:xfrm xmlns:a="http://schemas.openxmlformats.org/drawingml/2006/main">
            <a:off x="0" y="0"/>
            <a:ext cx="12136544" cy="683990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표 2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507430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246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환승객의 고정된 출발 시각에 맞춘 계획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관광시간뿐 아니라 준비시간·예산·공항 복귀 여유를 함께 계산한다.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원래 계획과 대안의 비교 후 적용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비·지연·장소 제외가 코스와 복귀에 미친 이유를 확인하고 선택한다.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공식 관광정보와 개인 기록의 연결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방문 전 운영정보 확인부터 계획 변경, 일정 저장·내보내기까지 이어진다.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608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1단계: 데이터 정확성과 현장 검증</a:t>
                      </a: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휴관·공휴일 예외의 구조화, 실제 교통·복귀시간 오차 및 사용성 검증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2단계: 외국인 이용과 안정적인 운영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영문 관광데이터 연계, 주요 언어 확대, 교통 API 사용량·장애 대응 개선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3단계: 지역과 서비스 확장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장소·환승 공항 확대, 동의 기반 기록 동기화와 복귀 알림 개선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50" b="0" i="0" u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※ 위 항목은 향후 계획이며 현재 완료된 기능으로 제시하지 않는다.</a:t>
                      </a:r>
                      <a:endParaRPr sz="1800"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133350" marR="133350" marT="95250" marB="95250" anchor="t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환승로그  |  기능설명서  |  18">
            <a:extLst xmlns:a="http://schemas.openxmlformats.org/drawingml/2006/main">
              <a:ext uri="{FF2B5EF4-FFF2-40B4-BE49-F238E27FC236}">
                <a16:creationId xmlns:a16="http://schemas.microsoft.com/office/drawing/2014/main" id="{FE88A740-B371-4B34-9B18-F0958224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734175"/>
            <a:ext cx="2228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 i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환승로그  |  기능설명서  |  18</a:t>
            </a:r>
          </a:p>
        </p:txBody>
      </p:sp>
    </p:spTree>
    <p:extLst>
      <p:ext uri="{BB962C8B-B14F-4D97-AF65-F5344CB8AC3E}">
        <p14:creationId xmlns:p14="http://schemas.microsoft.com/office/powerpoint/2010/main" val="3988568962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2026-09-21T06:51:00.6150000Z</dcterms:created>
  <dcterms:modified xsi:type="dcterms:W3CDTF">2026-09-21T06:51:00.6150000Z</dcterms:modified>
</coreProperties>
</file>